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6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8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F(R)（例）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</c:v>
                </c:pt>
                <c:pt idx="1">
                  <c:v>0.12</c:v>
                </c:pt>
                <c:pt idx="2">
                  <c:v>0.05</c:v>
                </c:pt>
                <c:pt idx="3">
                  <c:v>-0.03</c:v>
                </c:pt>
                <c:pt idx="4">
                  <c:v>-0.08</c:v>
                </c:pt>
                <c:pt idx="5">
                  <c:v>-0.1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k_m (norm)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50</c:v>
                  </c:pt>
                  <c:pt idx="2">
                    <c:v>100</c:v>
                  </c:pt>
                  <c:pt idx="3">
                    <c:v>150</c:v>
                  </c:pt>
                  <c:pt idx="4">
                    <c:v>200</c:v>
                  </c:pt>
                  <c:pt idx="5">
                    <c:v>250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0.71</c:v>
                </c:pt>
                <c:pt idx="2">
                  <c:v>1</c:v>
                </c:pt>
                <c:pt idx="3">
                  <c:v>1.22</c:v>
                </c:pt>
                <c:pt idx="4">
                  <c:v>1.41</c:v>
                </c:pt>
                <c:pt idx="5">
                  <c:v>1.58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n=0.5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0.32</c:v>
                </c:pt>
                <c:pt idx="1">
                  <c:v>0.55</c:v>
                </c:pt>
                <c:pt idx="2">
                  <c:v>0.71</c:v>
                </c:pt>
                <c:pt idx="3">
                  <c:v>0.84</c:v>
                </c:pt>
                <c:pt idx="4">
                  <c:v>0.95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n=1.0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0.1</c:v>
                </c:pt>
                <c:pt idx="1">
                  <c:v>0.3</c:v>
                </c:pt>
                <c:pt idx="2">
                  <c:v>0.5</c:v>
                </c:pt>
                <c:pt idx="3">
                  <c:v>0.7</c:v>
                </c:pt>
                <c:pt idx="4">
                  <c:v>0.9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n=2.0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0.1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0.7</c:v>
                  </c:pt>
                  <c:pt idx="4">
                    <c:v>0.9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0.01</c:v>
                </c:pt>
                <c:pt idx="1">
                  <c:v>0.09</c:v>
                </c:pt>
                <c:pt idx="2">
                  <c:v>0.25</c:v>
                </c:pt>
                <c:pt idx="3">
                  <c:v>0.49</c:v>
                </c:pt>
                <c:pt idx="4">
                  <c:v>0.81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power-law (n=1)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sat/inhib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0.2</c:v>
                  </c:pt>
                  <c:pt idx="2">
                    <c:v>0.4</c:v>
                  </c:pt>
                  <c:pt idx="3">
                    <c:v>0.6</c:v>
                  </c:pt>
                  <c:pt idx="4">
                    <c:v>0.8</c:v>
                  </c:pt>
                  <c:pt idx="5">
                    <c:v>1.0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0.33</c:v>
                </c:pt>
                <c:pt idx="2">
                  <c:v>0.5</c:v>
                </c:pt>
                <c:pt idx="3">
                  <c:v>0.6</c:v>
                </c:pt>
                <c:pt idx="4">
                  <c:v>0.67</c:v>
                </c:pt>
                <c:pt idx="5">
                  <c:v>0.71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θ(t)</c:v>
                </c:pt>
              </c:strCache>
            </c:strRef>
          </c:tx>
          <c:spPr>
            <a:solidFill>
              <a:srgbClr val="10B981"/>
            </a:solidFill>
            <a:ln w="25400" cap="flat">
              <a:solidFill>
                <a:srgbClr val="10B98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0B981"/>
              </a:solidFill>
              <a:ln w="9525" cap="flat">
                <a:solidFill>
                  <a:srgbClr val="10B98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0.33</c:v>
                </c:pt>
                <c:pt idx="2">
                  <c:v>0.55</c:v>
                </c:pt>
                <c:pt idx="3">
                  <c:v>0.7</c:v>
                </c:pt>
                <c:pt idx="4">
                  <c:v>0.8</c:v>
                </c:pt>
                <c:pt idx="5">
                  <c:v>0.87</c:v>
                </c:pt>
                <c:pt idx="6">
                  <c:v>0.92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C(t)/C0</c:v>
                </c:pt>
              </c:strCache>
            </c:strRef>
          </c:tx>
          <c:spPr>
            <a:solidFill>
              <a:srgbClr val="EF4444"/>
            </a:solidFill>
            <a:ln w="25400" cap="flat">
              <a:solidFill>
                <a:srgbClr val="EF444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4444"/>
              </a:solidFill>
              <a:ln w="9525" cap="flat">
                <a:solidFill>
                  <a:srgbClr val="EF444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0.61</c:v>
                </c:pt>
                <c:pt idx="2">
                  <c:v>0.37</c:v>
                </c:pt>
                <c:pt idx="3">
                  <c:v>0.22</c:v>
                </c:pt>
                <c:pt idx="4">
                  <c:v>0.14</c:v>
                </c:pt>
                <c:pt idx="5">
                  <c:v>0.08</c:v>
                </c:pt>
                <c:pt idx="6">
                  <c:v>0.05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k_g t_res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0.5</c:v>
                  </c:pt>
                  <c:pt idx="2">
                    <c:v>1</c:v>
                  </c:pt>
                  <c:pt idx="3">
                    <c:v>1.5</c:v>
                  </c:pt>
                  <c:pt idx="4">
                    <c:v>2</c:v>
                  </c:pt>
                  <c:pt idx="5">
                    <c:v>2.5</c:v>
                  </c:pt>
                  <c:pt idx="6">
                    <c:v>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0.61</c:v>
                </c:pt>
                <c:pt idx="2">
                  <c:v>0.37</c:v>
                </c:pt>
                <c:pt idx="3">
                  <c:v>0.22</c:v>
                </c:pt>
                <c:pt idx="4">
                  <c:v>0.14</c:v>
                </c:pt>
                <c:pt idx="5">
                  <c:v>0.08</c:v>
                </c:pt>
                <c:pt idx="6">
                  <c:v>0.05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寄与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dep</c:v>
                  </c:pt>
                  <c:pt idx="1">
                    <c:v>etch</c:v>
                  </c:pt>
                  <c:pt idx="2">
                    <c:v>loss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1.2</c:v>
                </c:pt>
                <c:pt idx="1">
                  <c:v>-0.5</c:v>
                </c:pt>
                <c:pt idx="2">
                  <c:v>-0.2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https://upload.wikimedia.org/wikipedia/commons/4/41/Semiconductor_Wafer_of_Microelectronics.jpg (wafer photo, CC BY-SA 4.0)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(mass-transfer limitations framing)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(mass transfer to reacting surfaces; concept of bulk vs surface concentration)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(mass transfer limitations to reacting surfaces)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(mass transfer + surface reaction rate coupling; bracketing-friendly formulations)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https://pineresearch.com/support-article/rotating-disk-electrode-rde-theory/ (rotating disk mass transport theory overview)
- https://www.sciencedirect.com/science/article/pii/S0038110122003562 (Knudsen/Bosanquet-type transport in ALD modeling context)
- https://upload.wikimedia.org/wikipedia/commons/thumb/f/f0/Siliziumwafer.JPG/800px-Siliziumwafer.JPG (wafer photo, public domain)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https://pineresearch.com/support-article/rotating-disk-electrode-rde-theory/ (Levich rotating disk mass transport theory overview)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https://www.sciencedirect.com/science/article/pii/S006980400480013X/pdf?md5=c1ed45240da48271a0bc40bbf78a6051&amp;pid=1-s2.0-S006980400480013X-main.pdf (LHHW-type rate formulations in heterogeneous catalysis)
- https://en.wikipedia.org/wiki/Hertz%E2%80%93Knudsen_equation (Hertz–Knudsen flux equation overview)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(general coupling of surface kinetics and mass transfer; observed order can differ under transport limitation)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https://www.sciencedirect.com/science/article/pii/S006980400480013X/pdf?md5=c1ed45240da48271a0bc40bbf78a6051&amp;pid=1-s2.0-S006980400480013X-main.pdf (LHHW-type saturation/inhibition structure)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https://www.sciencedirect.com/science/article/pii/S006980400480013X/pdf?md5=c1ed45240da48271a0bc40bbf78a6051&amp;pid=1-s2.0-S006980400480013X-main.pdf (LHHW-type formulations)
- https://www.osti.gov/servlets/purl/1977248 (Eley–Rideal discussion example)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https://en.wikipedia.org/wiki/Hertz%E2%80%93Knudsen_equation (Hertz–Knudsen equation overview)
- https://pubs.aip.org/aip/jap/article/124/9/095302/155740/Surface-reaction-kinetics-in-atomic-layer (ALD kinetic modeling context)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https://pubs.aip.org/aip/jap/article/124/9/095302/155740/Surface-reaction-kinetics-in-atomic-layer (ALD exposure/purge + kinetics framing)
- https://en.wikipedia.org/wiki/Avrami_equation (Avrami/JMAK concept for incubation-like behavior)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https://pubs.aip.org/aip/jap/article/124/9/095302/155740/Surface-reaction-kinetics-in-atomic-layer (phase + purge effects in ALD kinetic modeling)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https://bdt.semi.ac.cn/download/0.4862375146410606.pdf (example: modeling CVD with gas-phase + surface reactions)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https://pubs.aip.org/avs/jvb/article/23/6/2340/945287/Pattern-dependent-microloading-and-step-coverage (pattern-dependent microloading context)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(general reaction + mass transfer framing; supports discussing composite rates)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(observed kinetics can change under transport limitations; motivates robustness checks when combining nonlinearities)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(supports the decomposition into mass transfer + reaction; motivates modular approach)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{
[Sources]
- https://public.websites.umich.edu/~elements/5e/14chap/Fogler_Web_Ch14.pdf (mass transfer + reaction as core decomposition)
- https://pubs.aip.org/aip/jap/article/124/9/095302/155740/Surface-reaction-kinetics-in-atomic-layer (ALD phase kinetics context)
- https://pineresearch.com/support-article/rotating-disk-electrode-rde-theory/ (rotating disk transport context)
[/Sources]
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CVD/ALD 膜厚分布推定：TC結合＋縮約表面反応運動論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583680" cy="119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CFD（直上濃度・流速・温度）→ 表面輸送–反応結合（TCRSK）→ 2D膜厚マップ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用途：プロセス理解／DOE／同化（パラメータ推定）／将来ML連携</a:t>
            </a:r>
            <a:endParaRPr lang="en-US" sz="1600" dirty="0"/>
          </a:p>
        </p:txBody>
      </p:sp>
      <p:pic>
        <p:nvPicPr>
          <p:cNvPr id="4" name="Image 0" descr="/mnt/data/img_wafer_microelectronic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960120"/>
            <a:ext cx="4480560" cy="3291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468880"/>
            <a:ext cx="658368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2523744"/>
            <a:ext cx="6309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最小パイプライン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31520" y="288036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953512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CFD直上場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C_ref, |u|, 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80360" y="288036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990088" y="2953512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TC結合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(C_s, R)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2880360"/>
            <a:ext cx="19202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38928" y="2953512"/>
            <a:ext cx="17007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h(x,y)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97480" y="3264408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846320" y="3264408"/>
            <a:ext cx="1828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背景：CFDだけでは膜形成（表面反応）まで計算できない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196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CFDで得られる：装置内ガス流れ、参照面（z=z_ref）での C_ref(x,y), |u|(x,y), T(x,y)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欲しい量：膜厚分布 h(x,y)（2D全面）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厳密化は困難：気相組成・表面素反応・サイト状態・副生成物再吸着…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目的：輸送–反応結合＋縮約運動論で「必要十分」なモデルを構築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情報ギャップ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(輸送)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2103120"/>
            <a:ext cx="2011680" cy="109728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2212848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C_ref, |u|, 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(参照面)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784080" y="1554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薄膜形成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(未解)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784080" y="2103120"/>
            <a:ext cx="2011680" cy="109728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57232" y="2157984"/>
            <a:ext cx="186537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表面反応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サイト状態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 副生成物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281160" y="2651760"/>
            <a:ext cx="41148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366760" y="3566160"/>
            <a:ext cx="2286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430768" y="3639312"/>
            <a:ext cx="21579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TCRSK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(輸送–反応結合)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509760" y="3200400"/>
            <a:ext cx="0" cy="36576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68680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出力：h(x,y)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課題の核心：参照面 C_ref と表面近傍 C_s のズレ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170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CFDの固定高さ z=z_ref で得る濃度は「表面濃度ではない」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表面反応は C_s（表面近傍）と表面状態 z(=θなど) に依存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解くべき条件：輸送フラックス J と表面反応速度 r の整合</a:t>
            </a:r>
            <a:endParaRPr lang="en-US" sz="1600" dirty="0"/>
          </a:p>
          <a:p>
            <a:pPr marL="228600" indent="-228600">
              <a:lnSpc>
                <a:spcPct val="1100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TC結合で C_s を決め、次数推定の“高さ依存”を避ける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模式図（z方向）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0" y="5212080"/>
            <a:ext cx="42062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4380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ウェハ表面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1737360"/>
            <a:ext cx="0" cy="338328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333488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498080" y="2468880"/>
            <a:ext cx="4206240" cy="0"/>
          </a:xfrm>
          <a:prstGeom prst="line">
            <a:avLst/>
          </a:prstGeom>
          <a:noFill/>
          <a:ln w="25400">
            <a:solidFill>
              <a:srgbClr val="93C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0" y="2331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参照面 z_ref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2468880"/>
            <a:ext cx="731520" cy="36576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2834640"/>
            <a:ext cx="822960" cy="7315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601200" y="3566160"/>
            <a:ext cx="640080" cy="64008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0" y="4206240"/>
            <a:ext cx="548640" cy="45720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789920" y="4663440"/>
            <a:ext cx="365760" cy="27432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29284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C(z)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635240" y="21488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4ED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35240" y="4709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955280" y="2788920"/>
            <a:ext cx="0" cy="233172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82980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境界層（縮約）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核方程式（TCRSK）：輸送–反応結合 + 膜厚生成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21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局所モデル（各 (x,y) 点）：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1) 輸送（参照面→表面近傍）  J_i = k_m,i (C_ref,i − C_s,i)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2) 表面反応（縮約速度式）    r_j = r_j(C_s, z, T; θ)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3) 収支（化学量論整合）      J_i = Σ_j ν_ij r_j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4) 膜厚                     dh/dt = Σ_j α_j r_j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記号（最小セット）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1706880" cy="5600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22592" y="142646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記号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56320" y="1371600"/>
            <a:ext cx="1706880" cy="5600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29472" y="142646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意味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363200" y="1371600"/>
            <a:ext cx="1706880" cy="5600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36352" y="142646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単位例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193167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2592" y="198653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C_ref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56320" y="193167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29472" y="198653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参照面濃度（z=z_ref）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363200" y="193167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36352" y="198653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mol/m³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949440" y="249174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22592" y="254660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56320" y="249174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29472" y="254660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表面近傍濃度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63200" y="249174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436352" y="254660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mol/m³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949440" y="305181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310667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k_m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56320" y="305181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29472" y="310667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物質移動係数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363200" y="305181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436352" y="310667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m/s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949440" y="361188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22592" y="366674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656320" y="361188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29472" y="366674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表面へのフラックス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363200" y="361188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436352" y="366674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mol/m²/s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949440" y="417195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22592" y="422681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56320" y="417195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29472" y="422681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表面反応速度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0363200" y="417195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436352" y="422681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mol/m²/s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949440" y="473202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22592" y="478688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656320" y="473202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29472" y="478688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0363200" y="473202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436352" y="478688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 (or nm)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949440" y="529209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22592" y="534695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z, θ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8656320" y="529209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729472" y="534695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表面状態・パラメータ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0363200" y="5292090"/>
            <a:ext cx="1706880" cy="5600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436352" y="5346954"/>
            <a:ext cx="1560576" cy="4503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—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数値核：反応進行度 R の 1変数root（収束保証）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72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支配反応が1本のとき：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C_s,i = C_ref,i − (ν_i / k_m,i) 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F(R) = R − r(C_s(R), z, T) = 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物理上限：0 ≤ R ≤ R_max = min_i (k_m,i C_ref,i / ν_i)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実装上の要点：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bracket が常に張れる → bisection/Brent系で堅牢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ベクトル化しやすい（DOE/2D計算）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F(R) の概形（概念図）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4389120"/>
            <a:ext cx="484632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23760" y="448056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Bracketing：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 ∈ [0, R_max] で符号変化を挟む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（bisection/Brent系）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輸送モデル：k_m（物質移動係数）の選択肢と適用条件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k_m は C_ref→C_s の“橋渡し”であり、z_ref依存性・回転効果・低圧効果に直結。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実装では MassTransferModel を差し替え可能（YAMLでON/OFF）。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15214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20824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代表モデル（比較）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304288" cy="576072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86584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44368" y="2331720"/>
            <a:ext cx="2304288" cy="576072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386584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式（代表）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248656" y="2331720"/>
            <a:ext cx="2304288" cy="576072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2386584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552944" y="2331720"/>
            <a:ext cx="2304288" cy="576072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26096" y="2386584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注意点/ガード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857232" y="2331720"/>
            <a:ext cx="2304288" cy="576072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30384" y="2386584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向く状況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907792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2962656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stagnant_film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44368" y="2907792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2962656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k_m = D/δ_eff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48656" y="2907792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21808" y="2962656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汎用・校正容易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52944" y="2907792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2962656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δ_effが実質ノブ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857232" y="2907792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930384" y="2962656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回転あり/なし、まずこれ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483864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353872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rotating_disk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44368" y="3483864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17520" y="353872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k_m ∝ D^(2/3) ω^(1/2) ν^(-1/6)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248656" y="3483864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21808" y="353872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回転の輸送強化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552944" y="3483864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6096" y="353872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ω=0は不可→error/fallback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9857232" y="3483864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30384" y="3538728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single-wafer回転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4059936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" y="4114800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Bosanquet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44368" y="4059936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017520" y="4114800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1/D_eff=1/D_m+1/D_K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48656" y="4059936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21808" y="4114800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低圧ブリッジ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552944" y="4059936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26096" y="4114800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D_K推定が要る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857232" y="4059936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930384" y="4114800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低圧CVD/ALD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4636008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4690872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cfd_provided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44368" y="4636008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017520" y="4690872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k_m(x,y) を入力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48656" y="4636008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21808" y="4690872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最も物理寄り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552944" y="4636008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6096" y="4690872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CFD運用コスト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9857232" y="4636008"/>
            <a:ext cx="2304288" cy="57607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930384" y="4690872"/>
            <a:ext cx="2157984" cy="466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高精度が要る場合</a:t>
            </a:r>
            <a:endParaRPr lang="en-US" sz="1100" dirty="0"/>
          </a:p>
        </p:txBody>
      </p:sp>
      <p:pic>
        <p:nvPicPr>
          <p:cNvPr id="56" name="Image 0" descr="/mnt/data/img_siliziumwafer_80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5349240"/>
            <a:ext cx="347472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回転ディスク寄り装置：k_m の ω 依存（スケーリング）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196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回転single-waferでは境界層が回転で薄くなり、輸送が強化される。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代表スケール：k_m ∝ D^(2/3) ω^(1/2) ν^(−1/6)（係数は装置差で校正）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実装ガード：ω=0 なら rotating_disk を error または stagnant_film へ fallback。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例：k_m vs ω（概念）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4709160"/>
            <a:ext cx="48463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60920" y="4864608"/>
            <a:ext cx="914400" cy="59436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50109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wafer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8458200" y="4809744"/>
            <a:ext cx="822960" cy="822960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915400" y="4846320"/>
            <a:ext cx="320040" cy="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12" name="Text 9"/>
          <p:cNvSpPr/>
          <p:nvPr/>
        </p:nvSpPr>
        <p:spPr>
          <a:xfrm>
            <a:off x="8732520" y="5074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ω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326880" y="49834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 → 境界層薄化 → k_m↑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縮約表面反応運動論：RateLaw “族” の選択肢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72800" cy="94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狙い：厳密組成・素反応を持たずに、次数効果（正/負/遷移）と主要な非線形を再現。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RateLaw を差し替え可能にし、モデル比較→同化→外挿安定性を確保。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15214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20824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代表RateLaw（概要）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2880360" cy="57912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3865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RateLaw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331720"/>
            <a:ext cx="2880360" cy="57912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3865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式（代表）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2331720"/>
            <a:ext cx="2880360" cy="57912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23865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表現できる現象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81160" y="2331720"/>
            <a:ext cx="2880360" cy="57912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4312" y="23865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主な用途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1084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6570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powerlaw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291084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96570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r=k∏ C_s^n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291084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296570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明示次数（正/負/分数）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291084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296570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初期同化・狭範囲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48996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354482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sat/inhibition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48996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54482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r=k Π(KC)^α /(1+ΣKC)^β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48996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354482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飽和/阻害・次数遷移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81160" y="348996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354482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外挿安定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06908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12394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LHHW/comp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406908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412394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r= num /(1+ΣKC)^m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06908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412394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競合吸着・負次数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81160" y="406908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12394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機構寄り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64820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" y="470306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ER-like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520440" y="464820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3592" y="470306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r≈k P_B θ_A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00800" y="464820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70306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衝突×吸着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9281160" y="464820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54312" y="470306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ラジカル/分子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080" y="522732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13232" y="52821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sticking_flux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3520440" y="522732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93592" y="52821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Γ∝p/√T, r=s(θ)Γ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522732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73952" y="52821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低圧・衝突律速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281160" y="5227320"/>
            <a:ext cx="2880360" cy="57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54312" y="5282184"/>
            <a:ext cx="2734056" cy="469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ALD/低圧CVD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RateLaw①：Power-law（一般化パワー則）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97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式： r = k(T) · Π_i C_{s,i}^{n_i}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n_i：正/負/分数も許容（見かけ次数として）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実装：log形式で計算（数値安定）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log r = log k + Σ n_i log(C_i+ε)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向く場面：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条件範囲が狭い（同化の初期解）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まずは支配スケーリングを掴む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概形：次数 n による増加の違い（例）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5440680"/>
            <a:ext cx="48463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78040" y="5504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※図は概念（正規化）。実データでは阻害/飽和で次数は遷移し得る。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RateLaw②：飽和/阻害（分母形）— 見かけ次数の遷移を内包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97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 r = k(T) · Π (K_i C_i)^α / (1 + Σ K_j C_j)^β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低濃度：ほぼ power-law（一次近似）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高濃度：飽和（一次→零次）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阻害種：分母に入ると見かけ次数が負になり得る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利点：外挿が壊れにくい（次数漂流を抑制）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概形：飽和（例）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086600" y="5394960"/>
            <a:ext cx="4846320" cy="4572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05472" y="55046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見かけ次数： n_app = ∂ln r / ∂ln C （条件で変化）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RateLaw③：LHHW / ER-like（機構寄り縮約）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97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LHHW（競合吸着）： r = num(C) / (1 + Σ K C)^m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競合・サイト占有により“次数が遷移”しやすい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ER-like： r ≈ k · P_B · θ_A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→ 「吸着×衝突」の縮約（ラジカル/分子で有用）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使い所：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power-law の次数漂流が顕著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阻害や競合が物理として明確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模式図：吸着サイトと競合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51206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3200400"/>
            <a:ext cx="46634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9480" y="2999232"/>
            <a:ext cx="164592" cy="164592"/>
          </a:xfrm>
          <a:prstGeom prst="ellipse">
            <a:avLst/>
          </a:prstGeom>
          <a:solidFill>
            <a:srgbClr val="FCA5A5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0" y="2999232"/>
            <a:ext cx="164592" cy="164592"/>
          </a:xfrm>
          <a:prstGeom prst="ellipse">
            <a:avLst/>
          </a:prstGeom>
          <a:solidFill>
            <a:srgbClr val="93C5FD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75320" y="2999232"/>
            <a:ext cx="164592" cy="164592"/>
          </a:xfrm>
          <a:prstGeom prst="ellipse">
            <a:avLst/>
          </a:prstGeom>
          <a:solidFill>
            <a:srgbClr val="93C5FD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0" y="2999232"/>
            <a:ext cx="164592" cy="164592"/>
          </a:xfrm>
          <a:prstGeom prst="ellipse">
            <a:avLst/>
          </a:prstGeom>
          <a:solidFill>
            <a:srgbClr val="FCA5A5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281160" y="2999232"/>
            <a:ext cx="164592" cy="164592"/>
          </a:xfrm>
          <a:prstGeom prst="ellipse">
            <a:avLst/>
          </a:prstGeom>
          <a:solidFill>
            <a:srgbClr val="93C5FD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784080" y="2999232"/>
            <a:ext cx="164592" cy="164592"/>
          </a:xfrm>
          <a:prstGeom prst="ellipse">
            <a:avLst/>
          </a:prstGeom>
          <a:solidFill>
            <a:srgbClr val="93C5FD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87000" y="2999232"/>
            <a:ext cx="164592" cy="164592"/>
          </a:xfrm>
          <a:prstGeom prst="ellipse">
            <a:avLst/>
          </a:prstGeom>
          <a:solidFill>
            <a:srgbClr val="FCA5A5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89920" y="2999232"/>
            <a:ext cx="164592" cy="164592"/>
          </a:xfrm>
          <a:prstGeom prst="ellipse">
            <a:avLst/>
          </a:prstGeom>
          <a:solidFill>
            <a:srgbClr val="93C5FD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92840" y="2999232"/>
            <a:ext cx="164592" cy="164592"/>
          </a:xfrm>
          <a:prstGeom prst="ellipse">
            <a:avLst/>
          </a:prstGeom>
          <a:solidFill>
            <a:srgbClr val="93C5FD"/>
          </a:solidFill>
          <a:ln w="635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508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赤：阻害種 I の占有 / 青：反応物 A の占有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78040" y="19202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分母 (1+ΣKC)^m が “競合・飽和” を表す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49440" y="374904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380390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比較（短所も含めて）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4160520"/>
            <a:ext cx="2560320" cy="56388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22592" y="4215384"/>
            <a:ext cx="2414016" cy="454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509760" y="4160520"/>
            <a:ext cx="2560320" cy="56388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912" y="4215384"/>
            <a:ext cx="2414016" cy="454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4724400"/>
            <a:ext cx="256032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4779264"/>
            <a:ext cx="2414016" cy="454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509760" y="4724400"/>
            <a:ext cx="256032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4779264"/>
            <a:ext cx="2414016" cy="454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負次数・競合を物理で説明しやすい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5288280"/>
            <a:ext cx="256032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22592" y="5343144"/>
            <a:ext cx="2414016" cy="454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509760" y="5288280"/>
            <a:ext cx="256032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82912" y="5343144"/>
            <a:ext cx="2414016" cy="454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パラメータが増え同定が難しい場合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RateLaw④：sticking + 分子運動論フラックス（低圧ALD/ラジカル）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Hertz–Knudsen（例）： Γ = α p / √(2π m k_B 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反応： J = s(θ) Γ （sticking）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膜厚： dh/dt = α_h J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“濃度の次数”を、衝突フラックス×反応確率に置き換える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s(θ) に (1−θ)^m を入れると自己終端（ALD）を表現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模式図：衝突 → 付着確率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78040" y="5349240"/>
            <a:ext cx="4663440" cy="0"/>
          </a:xfrm>
          <a:prstGeom prst="line">
            <a:avLst/>
          </a:prstGeom>
          <a:noFill/>
          <a:ln w="254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0" y="5440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surface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0" y="205740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98664" y="2286000"/>
            <a:ext cx="0" cy="299923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8138160" y="269748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38744" y="2926080"/>
            <a:ext cx="0" cy="235915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78240" y="333756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878824" y="3566160"/>
            <a:ext cx="0" cy="171907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418320" y="205740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18904" y="2286000"/>
            <a:ext cx="0" cy="299923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058400" y="269748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2926080"/>
            <a:ext cx="0" cy="235915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698480" y="333756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99064" y="3566160"/>
            <a:ext cx="0" cy="171907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1338560" y="2057400"/>
            <a:ext cx="201168" cy="201168"/>
          </a:xfrm>
          <a:prstGeom prst="ellipse">
            <a:avLst/>
          </a:prstGeom>
          <a:solidFill>
            <a:srgbClr val="93C5FD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439144" y="2286000"/>
            <a:ext cx="0" cy="299923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315200" y="1481328"/>
            <a:ext cx="4663440" cy="45720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5910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 = s(θ)·Γ  （s: sticking probability）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52360" y="3566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自己終端： s(θ)=s0·(1−θ)^m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52360" y="3977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低圧で有用（衝突律速）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StateModel：被覆率・被毒・核生成（履歴を持つ非線形）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状態変数 z(t) を導入すると、時間遅れ・回復・初期遅れを表現できる：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coverage（ALD）： dθ/dt = A(C,T)(1−θ)^m − B(C,T)θ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poisoning： dθ_I/dt = k_ads C_I(1−θ_I) − k_des θ_I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incubation： dη/dt = k C^n(1−η),   r_eff = η·r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実務上の利点：分母形だけでは表現できない“履歴依存”を吸収。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例：被覆率 θ(t) の飽和（概念）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452628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458114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状態モデルの“何が解決できるか”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4937760"/>
            <a:ext cx="1706880" cy="30480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22592" y="49926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56320" y="4937760"/>
            <a:ext cx="1706880" cy="30480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29472" y="49926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解決するズレ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363200" y="4937760"/>
            <a:ext cx="1706880" cy="30480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36352" y="49926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49440" y="5242560"/>
            <a:ext cx="17068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22592" y="52974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coverage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56320" y="5242560"/>
            <a:ext cx="17068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29472" y="52974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自己終端/露光依存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63200" y="5242560"/>
            <a:ext cx="17068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36352" y="52974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 GPC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949440" y="5547360"/>
            <a:ext cx="17068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022592" y="56022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poisoning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656320" y="5547360"/>
            <a:ext cx="17068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729472" y="56022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阻害の履歴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363200" y="5547360"/>
            <a:ext cx="1706880" cy="30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436352" y="5602224"/>
            <a:ext cx="1560576" cy="195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生成物被毒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ALD：phase（露光/パージ）＋残留（purge不完全）を明示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976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ALDは phase 入力の切替が本体：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expose A → purge A → expose B → purge B …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現場で頻出の非理想：purge不完全により残留が次phaseへ持ち越し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モデル： C(t)=C0 exp(−t/τ) を purge phase の driver として適用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GPCの purge時間依存 / CVD混入成分を表現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phase タイムライン（模式）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86600" y="1508760"/>
            <a:ext cx="1005840" cy="457200"/>
          </a:xfrm>
          <a:prstGeom prst="rect">
            <a:avLst/>
          </a:prstGeom>
          <a:solidFill>
            <a:srgbClr val="93C5FD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86600" y="1581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A露光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092440" y="1508760"/>
            <a:ext cx="1097280" cy="45720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92440" y="15819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Aパージ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89720" y="1508760"/>
            <a:ext cx="1005840" cy="457200"/>
          </a:xfrm>
          <a:prstGeom prst="rect">
            <a:avLst/>
          </a:prstGeom>
          <a:solidFill>
            <a:srgbClr val="A7F3D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89720" y="158191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B露光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195560" y="1508760"/>
            <a:ext cx="1097280" cy="457200"/>
          </a:xfrm>
          <a:prstGeom prst="rect">
            <a:avLst/>
          </a:prstGeom>
          <a:solidFill>
            <a:srgbClr val="E5E7EB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95560" y="15819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Bパージ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086600" y="2148840"/>
            <a:ext cx="484632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161288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23317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23865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purge残留：指数減衰（概念）</a:t>
            </a:r>
            <a:endParaRPr lang="en-US" sz="1300" dirty="0"/>
          </a:p>
        </p:txBody>
      </p:sp>
      <p:graphicFrame>
        <p:nvGraphicFramePr>
          <p:cNvPr id="18" name="Chart 0" descr=""/>
          <p:cNvGraphicFramePr/>
          <p:nvPr/>
        </p:nvGraphicFramePr>
        <p:xfrm>
          <a:off x="7086600" y="2788920"/>
          <a:ext cx="4846320" cy="3063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InputTransform：気相ロス（上流分解/壁反応）を少パラメータで吸収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72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CFDが化学反応を含まない場合でも、参照面までに“届く量”が減ることがある：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気相分解 / 重合 / 壁反応 / プラズマ損失 など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縮約： C_eff = C_ref · exp(−k_g(T) · t_res)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表面側のパラメータ（次数やk）が漂流するのを抑え、外挿を安定化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例：C_eff/C_ref vs t_res（概念）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475488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480974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典型的な“ロス源”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5166360"/>
            <a:ext cx="1706880" cy="34290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22592" y="5221224"/>
            <a:ext cx="1560576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気相分解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56320" y="5166360"/>
            <a:ext cx="1706880" cy="34290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29472" y="5221224"/>
            <a:ext cx="1560576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壁反応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0363200" y="5166360"/>
            <a:ext cx="1706880" cy="34290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436352" y="5221224"/>
            <a:ext cx="1560576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重合/クラスター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949440" y="5509260"/>
            <a:ext cx="170688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022592" y="5564124"/>
            <a:ext cx="1560576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損失→C_eff↓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656320" y="5509260"/>
            <a:ext cx="170688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729472" y="5564124"/>
            <a:ext cx="1560576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損失→C_eff↓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363200" y="5509260"/>
            <a:ext cx="1706880" cy="3429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436352" y="5564124"/>
            <a:ext cx="1560576" cy="233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損失→C_eff↓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2Dムラ要因：パターンローディング S(x,y) を TC に組み込む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ウェハ面内で“消費能力（有効表面積/サイト密度）”が異なる場合：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J_i = ν_i R · S(x,y)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C_s,i = C_ref,i − (ν_i / k_m,i) R · S(x,y)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ポイント：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未知数はRのまま（root構造維持）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実測2D膜厚ムラ（pattern-dependent microloading）と整合させやすい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例：S(x,y) マップ（概念）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949440" y="1371600"/>
            <a:ext cx="242316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95160" y="1417320"/>
            <a:ext cx="3657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60920" y="1417320"/>
            <a:ext cx="3657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26680" y="141732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41732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58200" y="141732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23960" y="141732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5160" y="1783080"/>
            <a:ext cx="365760" cy="365760"/>
          </a:xfrm>
          <a:prstGeom prst="rect">
            <a:avLst/>
          </a:prstGeom>
          <a:solidFill>
            <a:srgbClr val="EEF2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60920" y="178308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178308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78308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58200" y="178308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23960" y="178308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95160" y="214884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60920" y="214884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214884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92440" y="214884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58200" y="214884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23960" y="214884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25146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60920" y="251460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26680" y="251460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92440" y="251460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458200" y="251460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514600"/>
            <a:ext cx="365760" cy="365760"/>
          </a:xfrm>
          <a:prstGeom prst="rect">
            <a:avLst/>
          </a:prstGeom>
          <a:solidFill>
            <a:srgbClr val="60A5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95160" y="288036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60920" y="288036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26680" y="288036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288036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58200" y="2880360"/>
            <a:ext cx="365760" cy="365760"/>
          </a:xfrm>
          <a:prstGeom prst="rect">
            <a:avLst/>
          </a:prstGeom>
          <a:solidFill>
            <a:srgbClr val="60A5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23960" y="2880360"/>
            <a:ext cx="365760" cy="365760"/>
          </a:xfrm>
          <a:prstGeom prst="rect">
            <a:avLst/>
          </a:prstGeom>
          <a:solidFill>
            <a:srgbClr val="60A5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95160" y="3246120"/>
            <a:ext cx="365760" cy="365760"/>
          </a:xfrm>
          <a:prstGeom prst="rect">
            <a:avLst/>
          </a:prstGeom>
          <a:solidFill>
            <a:srgbClr val="BFDBFE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60920" y="324612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3246120"/>
            <a:ext cx="365760" cy="365760"/>
          </a:xfrm>
          <a:prstGeom prst="rect">
            <a:avLst/>
          </a:prstGeom>
          <a:solidFill>
            <a:srgbClr val="93C5F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3246120"/>
            <a:ext cx="365760" cy="365760"/>
          </a:xfrm>
          <a:prstGeom prst="rect">
            <a:avLst/>
          </a:prstGeom>
          <a:solidFill>
            <a:srgbClr val="60A5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458200" y="3246120"/>
            <a:ext cx="365760" cy="365760"/>
          </a:xfrm>
          <a:prstGeom prst="rect">
            <a:avLst/>
          </a:prstGeom>
          <a:solidFill>
            <a:srgbClr val="60A5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246120"/>
            <a:ext cx="365760" cy="365760"/>
          </a:xfrm>
          <a:prstGeom prst="rect">
            <a:avLst/>
          </a:prstGeom>
          <a:solidFill>
            <a:srgbClr val="2563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09760" y="146304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S(x,y) ↑ → 消費↑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C_s↓ → 成膜変化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9440" y="397764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403250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効果：厚みムラへ伝播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949440" y="4389120"/>
            <a:ext cx="24231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95160" y="4434840"/>
            <a:ext cx="36576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360920" y="4434840"/>
            <a:ext cx="36576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726680" y="4434840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092440" y="4434840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458200" y="4434840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823960" y="4434840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95160" y="4764024"/>
            <a:ext cx="365760" cy="329184"/>
          </a:xfrm>
          <a:prstGeom prst="rect">
            <a:avLst/>
          </a:prstGeom>
          <a:solidFill>
            <a:srgbClr val="FFFBE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60920" y="4764024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726680" y="4764024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092440" y="4764024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58200" y="4764024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23960" y="4764024"/>
            <a:ext cx="365760" cy="329184"/>
          </a:xfrm>
          <a:prstGeom prst="rect">
            <a:avLst/>
          </a:prstGeom>
          <a:solidFill>
            <a:srgbClr val="FCD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995160" y="5093208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60920" y="5093208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726680" y="5093208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092440" y="5093208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58200" y="5093208"/>
            <a:ext cx="365760" cy="329184"/>
          </a:xfrm>
          <a:prstGeom prst="rect">
            <a:avLst/>
          </a:prstGeom>
          <a:solidFill>
            <a:srgbClr val="FCD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823960" y="5093208"/>
            <a:ext cx="365760" cy="329184"/>
          </a:xfrm>
          <a:prstGeom prst="rect">
            <a:avLst/>
          </a:prstGeom>
          <a:solidFill>
            <a:srgbClr val="FCD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95160" y="5422392"/>
            <a:ext cx="365760" cy="329184"/>
          </a:xfrm>
          <a:prstGeom prst="rect">
            <a:avLst/>
          </a:prstGeom>
          <a:solidFill>
            <a:srgbClr val="FEF3C7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60920" y="5422392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726680" y="5422392"/>
            <a:ext cx="365760" cy="329184"/>
          </a:xfrm>
          <a:prstGeom prst="rect">
            <a:avLst/>
          </a:prstGeom>
          <a:solidFill>
            <a:srgbClr val="FDE68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092440" y="5422392"/>
            <a:ext cx="365760" cy="329184"/>
          </a:xfrm>
          <a:prstGeom prst="rect">
            <a:avLst/>
          </a:prstGeom>
          <a:solidFill>
            <a:srgbClr val="FCD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458200" y="5422392"/>
            <a:ext cx="365760" cy="329184"/>
          </a:xfrm>
          <a:prstGeom prst="rect">
            <a:avLst/>
          </a:prstGeom>
          <a:solidFill>
            <a:srgbClr val="FCD34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23960" y="5422392"/>
            <a:ext cx="365760" cy="329184"/>
          </a:xfrm>
          <a:prstGeom prst="rect">
            <a:avLst/>
          </a:prstGeom>
          <a:solidFill>
            <a:srgbClr val="F59E0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509760" y="4526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結果：h(x,y)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（2Dマップ）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NetModel：成膜・エッチ・損失の合成（dep − etch − loss）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膜厚速度（例）：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dh/dt = α·r_dep − α_e·r_etch − r_loss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使い所：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PECVD等で成膜とエッチが同時に効く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プラズマ損失（ラジカル消失）を別チャネルで表現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注意：自由度が増えるため、切り分け実験・正則化が重要。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例：寄与の内訳（概念）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086600" y="1417320"/>
          <a:ext cx="48463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949440" y="498348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86600" y="503834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実装ガイド（同定性）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949440" y="5394960"/>
            <a:ext cx="2560320" cy="25146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22592" y="5449824"/>
            <a:ext cx="2414016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509760" y="5394960"/>
            <a:ext cx="2560320" cy="25146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82912" y="5449824"/>
            <a:ext cx="2414016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切り分け条件（dep-only/etch-only）+ 正則化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49440" y="5646420"/>
            <a:ext cx="256032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22592" y="5701284"/>
            <a:ext cx="2414016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NG例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509760" y="5646420"/>
            <a:ext cx="2560320" cy="2514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582912" y="5701284"/>
            <a:ext cx="2414016" cy="1417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自由度を一気に増やして同化（多峰性）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数値健全性：単根性の崩れを検出し、フォールバックで破綻を防ぐ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3230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負次数・強阻害・多チャネルで F(R) が非単調 → 根が複数になり得る。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実務での“ある条件だけ壊れる”を避けるため：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単調性チェック（Rサンプルで符号変化回数などを評価）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フォールバック階層：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1) 区間分割root  2) bisection+固定Newton  3) 多変数solve（最終手段）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ログ/診断：失敗率、フォールバック率、反復回数マップ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root solver フロー（実装想定）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178040" y="141732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87768" y="1508760"/>
            <a:ext cx="4443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Compute bracket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R∈[0,Rmax]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178040" y="242316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87768" y="2514600"/>
            <a:ext cx="4443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Check monotonicity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(sign changes, slope)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342900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87768" y="3520440"/>
            <a:ext cx="4443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Solve: bisection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(vectorized)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78040" y="4480560"/>
            <a:ext cx="4663440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87768" y="4572000"/>
            <a:ext cx="444398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Fallback if needed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(split / hybrid)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509760" y="2167128"/>
            <a:ext cx="0" cy="25603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509760" y="3172968"/>
            <a:ext cx="0" cy="25603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09760" y="4178808"/>
            <a:ext cx="0" cy="301752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49440" y="548640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554126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診断出力（必須）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949440" y="5852160"/>
            <a:ext cx="1706880" cy="20574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5907024"/>
            <a:ext cx="1560576" cy="96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反復回数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656320" y="5852160"/>
            <a:ext cx="1706880" cy="20574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29472" y="5907024"/>
            <a:ext cx="1560576" cy="96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失敗率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363200" y="5852160"/>
            <a:ext cx="1706880" cy="20574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36352" y="5907024"/>
            <a:ext cx="1560576" cy="96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フォールバック率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6057900"/>
            <a:ext cx="170688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22592" y="6112764"/>
            <a:ext cx="1560576" cy="96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56320" y="6057900"/>
            <a:ext cx="170688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29472" y="6112764"/>
            <a:ext cx="1560576" cy="96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0363200" y="6057900"/>
            <a:ext cx="1706880" cy="2057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36352" y="6112764"/>
            <a:ext cx="1560576" cy="960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map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実装設計：モジュール化 + YAMLで理論項をON/OFF（第三者拡張）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6126480" cy="272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設計方針：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数値計算(sim) と 同化/最適化(opt) を分離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理論項は registry（RateLaw/State/km/Transform/Driver…）で追加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YAMLで enabled/name/params を統一 → “有/無”を即切替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出力は index.html を入口に統一（DOEはcase次元集約）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949440" y="960120"/>
            <a:ext cx="51206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86600" y="1014984"/>
            <a:ext cx="4846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パッケージ境界（概念）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086600" y="1417320"/>
            <a:ext cx="4846320" cy="822960"/>
          </a:xfrm>
          <a:prstGeom prst="round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96328" y="1527048"/>
            <a:ext cx="4626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deposim_sim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(Forward/DOE)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086600" y="2514600"/>
            <a:ext cx="4846320" cy="82296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96328" y="2624328"/>
            <a:ext cx="4626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deposim_opt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(Assimilation)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0" y="3611880"/>
            <a:ext cx="4846320" cy="82296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96328" y="3721608"/>
            <a:ext cx="4626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deposim_report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(Plots/HTML)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086600" y="4709160"/>
            <a:ext cx="4846320" cy="82296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96328" y="4818888"/>
            <a:ext cx="462686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tracking_clearml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(optional)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94760"/>
            <a:ext cx="612648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849624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YAML例（統一I/F）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160520"/>
            <a:ext cx="61264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251960"/>
            <a:ext cx="5852160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models: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rate_law: {enabled: true, name: sat_inhibition, params: {...}}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  mass_transfer: {enabled: true, name: rotating_disk, guard: {omega_zero: fallback}}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transforms: [{enabled: true, name: gas_phase_loss, params: {...}}]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87CEE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まとめ：モデルセットの使い分けとロードマップ（20枚版）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1521440" cy="145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要点：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TC結合（C_ref→C_s）を核に、RateLaw/State/km/Transform を差し替え可能にする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CVDは steady を主力（DOEに強い）。ALDは phases + coverage + purge残留が効く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• 診断（C_s/C_ref, n_app, root健全性）を標準化し、外挿・同化を安全にする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697480"/>
            <a:ext cx="11521440" cy="329184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7DC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752344"/>
            <a:ext cx="11247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ロードマップ（実装優先度の例）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2880360" cy="4457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311810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フェーズ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3063240"/>
            <a:ext cx="2880360" cy="4457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311810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主対象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0" y="3063240"/>
            <a:ext cx="2880360" cy="4457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3952" y="311810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含める理論項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281160" y="3063240"/>
            <a:ext cx="2880360" cy="445770"/>
          </a:xfrm>
          <a:prstGeom prst="rect">
            <a:avLst/>
          </a:prstGeom>
          <a:solidFill>
            <a:srgbClr val="EAF2F8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54312" y="311810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0901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56387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20440" y="350901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356387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CVD steady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0" y="350901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73952" y="356387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TC root + stagnant_film + powerlaw/sat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350901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54312" y="356387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2D膜厚 + 診断 + DOE器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5478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" y="400964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P1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520440" y="395478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400964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回転/低圧/ALD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95478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73952" y="400964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rotating_disk / Bosanquet / phases+coverage+purge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81160" y="395478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54312" y="400964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ALD GPC予測 + z_ref感度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40055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" y="445541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P2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520440" y="440055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445541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同化/ML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0" y="440055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73952" y="445541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implicit diff/adjoint + residual 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9281160" y="4400550"/>
            <a:ext cx="288036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54312" y="4455414"/>
            <a:ext cx="2734056" cy="3360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パラメータ推定 + サロゲート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4983480"/>
            <a:ext cx="1152144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5102352"/>
            <a:ext cx="11155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推奨運用：モデル比較（powerlaw ↔ sat/inhib ↔ mechanistic）→ 同化 → 外挿評価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※“計算資源（CPU/GPU）”はユーザーが YAML で選択（用途で決め打ちしない）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OpenAI (Codex handoff assistant)</dc:creator>
  <cp:lastModifiedBy>OpenAI (Codex handoff assistant)</cp:lastModifiedBy>
  <cp:revision>1</cp:revision>
  <dcterms:created xsi:type="dcterms:W3CDTF">2026-02-19T10:16:06Z</dcterms:created>
  <dcterms:modified xsi:type="dcterms:W3CDTF">2026-02-19T10:16:06Z</dcterms:modified>
</cp:coreProperties>
</file>